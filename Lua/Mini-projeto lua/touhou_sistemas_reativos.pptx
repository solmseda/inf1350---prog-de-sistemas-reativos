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45464488f7440f" /><Relationship Type="http://schemas.openxmlformats.org/officeDocument/2006/relationships/extended-properties" Target="/docProps/app.xml" Id="Rc2cb33ff6392446d" /><Relationship Type="http://schemas.openxmlformats.org/officeDocument/2006/relationships/officeDocument" Target="/ppt/presentation.xml" Id="R31a01a1ea2434f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270c157cf543d5"/>
  </p:sldMasterIdLst>
  <p:notesMasterIdLst>
    <p:notesMasterId xmlns:r="http://schemas.openxmlformats.org/officeDocument/2006/relationships" r:id="Rd30a81a31d634248"/>
  </p:notesMasterIdLst>
  <p:sldIdLst>
    <p:sldId xmlns:r="http://schemas.openxmlformats.org/officeDocument/2006/relationships" id="256" r:id="Rdd20f8f90b8a47f6"/>
    <p:sldId xmlns:r="http://schemas.openxmlformats.org/officeDocument/2006/relationships" id="257" r:id="R52444507d85f4c82"/>
    <p:sldId xmlns:r="http://schemas.openxmlformats.org/officeDocument/2006/relationships" id="258" r:id="Ra14dfdf8d0e644e8"/>
    <p:sldId xmlns:r="http://schemas.openxmlformats.org/officeDocument/2006/relationships" id="259" r:id="Rff87e20a0ac94e3e"/>
    <p:sldId xmlns:r="http://schemas.openxmlformats.org/officeDocument/2006/relationships" id="260" r:id="R532f6f0c399d4d65"/>
    <p:sldId xmlns:r="http://schemas.openxmlformats.org/officeDocument/2006/relationships" id="261" r:id="R541646e971334a9e"/>
    <p:sldId xmlns:r="http://schemas.openxmlformats.org/officeDocument/2006/relationships" id="262" r:id="R1c64d2348bb845b2"/>
    <p:sldId xmlns:r="http://schemas.openxmlformats.org/officeDocument/2006/relationships" id="263" r:id="R9e63d4de61ca49f6"/>
    <p:sldId xmlns:r="http://schemas.openxmlformats.org/officeDocument/2006/relationships" id="264" r:id="R0de833d640ca4496"/>
    <p:sldId xmlns:r="http://schemas.openxmlformats.org/officeDocument/2006/relationships" id="265" r:id="Rf0d6f7cd595a4fcf"/>
    <p:sldId xmlns:r="http://schemas.openxmlformats.org/officeDocument/2006/relationships" id="266" r:id="R092f1dea0f3e45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0ffd837c0c4af7" /><Relationship Type="http://schemas.openxmlformats.org/officeDocument/2006/relationships/slideMaster" Target="/ppt/slideMasters/slideMaster1.xml" Id="R48270c157cf543d5" /><Relationship Type="http://schemas.openxmlformats.org/officeDocument/2006/relationships/notesMaster" Target="/ppt/notesMasters/notesMaster1.xml" Id="Rd30a81a31d634248" /><Relationship Type="http://schemas.openxmlformats.org/officeDocument/2006/relationships/presProps" Target="/ppt/presProps.xml" Id="Rad39c9e5c5a5482f" /><Relationship Type="http://schemas.openxmlformats.org/officeDocument/2006/relationships/tableStyles" Target="/ppt/tableStyles.xml" Id="Re476bb40544d450c" /><Relationship Type="http://schemas.openxmlformats.org/officeDocument/2006/relationships/slide" Target="/ppt/slides/slide1.xml" Id="Rdd20f8f90b8a47f6" /><Relationship Type="http://schemas.openxmlformats.org/officeDocument/2006/relationships/slide" Target="/ppt/slides/slide2.xml" Id="R52444507d85f4c82" /><Relationship Type="http://schemas.openxmlformats.org/officeDocument/2006/relationships/slide" Target="/ppt/slides/slide3.xml" Id="Ra14dfdf8d0e644e8" /><Relationship Type="http://schemas.openxmlformats.org/officeDocument/2006/relationships/slide" Target="/ppt/slides/slide4.xml" Id="Rff87e20a0ac94e3e" /><Relationship Type="http://schemas.openxmlformats.org/officeDocument/2006/relationships/slide" Target="/ppt/slides/slide5.xml" Id="R532f6f0c399d4d65" /><Relationship Type="http://schemas.openxmlformats.org/officeDocument/2006/relationships/slide" Target="/ppt/slides/slide6.xml" Id="R541646e971334a9e" /><Relationship Type="http://schemas.openxmlformats.org/officeDocument/2006/relationships/slide" Target="/ppt/slides/slide7.xml" Id="R1c64d2348bb845b2" /><Relationship Type="http://schemas.openxmlformats.org/officeDocument/2006/relationships/slide" Target="/ppt/slides/slide8.xml" Id="R9e63d4de61ca49f6" /><Relationship Type="http://schemas.openxmlformats.org/officeDocument/2006/relationships/slide" Target="/ppt/slides/slide9.xml" Id="R0de833d640ca4496" /><Relationship Type="http://schemas.openxmlformats.org/officeDocument/2006/relationships/slide" Target="/ppt/slides/slide10.xml" Id="Rf0d6f7cd595a4fcf" /><Relationship Type="http://schemas.openxmlformats.org/officeDocument/2006/relationships/slide" Target="/ppt/slides/slide11.xml" Id="R092f1dea0f3e45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9b1e5e734543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9fc7d97e1e4f90" /><Relationship Type="http://schemas.openxmlformats.org/officeDocument/2006/relationships/notesMaster" Target="/ppt/notesMasters/notesMaster1.xml" Id="Rade2cefdf6b14f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43e8392da147da" /><Relationship Type="http://schemas.openxmlformats.org/officeDocument/2006/relationships/notesMaster" Target="/ppt/notesMasters/notesMaster1.xml" Id="Red2744e206374a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55c99885c14058" /><Relationship Type="http://schemas.openxmlformats.org/officeDocument/2006/relationships/notesMaster" Target="/ppt/notesMasters/notesMaster1.xml" Id="R46c7547a391943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8b89dfa68f44ce" /><Relationship Type="http://schemas.openxmlformats.org/officeDocument/2006/relationships/notesMaster" Target="/ppt/notesMasters/notesMaster1.xml" Id="R24c22b1b15c544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8dc0ea00ff4d88" /><Relationship Type="http://schemas.openxmlformats.org/officeDocument/2006/relationships/notesMaster" Target="/ppt/notesMasters/notesMaster1.xml" Id="R933e74c4e3e347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d920c7c33a4aab" /><Relationship Type="http://schemas.openxmlformats.org/officeDocument/2006/relationships/notesMaster" Target="/ppt/notesMasters/notesMaster1.xml" Id="Rb196bdf8810a48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ade8c1f6e64a01" /><Relationship Type="http://schemas.openxmlformats.org/officeDocument/2006/relationships/notesMaster" Target="/ppt/notesMasters/notesMaster1.xml" Id="R013d3b65d2214d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e2b21821734047" /><Relationship Type="http://schemas.openxmlformats.org/officeDocument/2006/relationships/notesMaster" Target="/ppt/notesMasters/notesMaster1.xml" Id="Re1d85dbfdf1f4f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abac12968a461f" /><Relationship Type="http://schemas.openxmlformats.org/officeDocument/2006/relationships/notesMaster" Target="/ppt/notesMasters/notesMaster1.xml" Id="R3a9fbfb7494947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6f17a1120043cc" /><Relationship Type="http://schemas.openxmlformats.org/officeDocument/2006/relationships/notesMaster" Target="/ppt/notesMasters/notesMaster1.xml" Id="R693471a0e6544c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9ad9750144414d" /><Relationship Type="http://schemas.openxmlformats.org/officeDocument/2006/relationships/notesMaster" Target="/ppt/notesMasters/notesMaster1.xml" Id="Rf04774efebe640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arquitetura e requisitos fornecidos na conversa do projeto Touhou-like.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arquitetura e requisitos fornecidos na conversa do projeto Touhou-like.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arquitetura e requisitos fornecidos na conversa do projeto Touhou-like.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arquitetura e requisitos fornecidos na conversa do projeto Touhou-like.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arquitetura e requisitos fornecidos na conversa do projeto Touhou-like.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arquitetura e requisitos fornecidos na conversa do projeto Touhou-like.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arquitetura e requisitos fornecidos na conversa do projeto Touhou-like.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arquitetura e requisitos fornecidos na conversa do projeto Touhou-like.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arquitetura e requisitos fornecidos na conversa do projeto Touhou-like.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arquitetura e requisitos fornecidos na conversa do projeto Touhou-like.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arquitetura e requisitos fornecidos na conversa do projeto Touhou-like.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4dc2b684f4a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dce5596c1948a9" /><Relationship Type="http://schemas.openxmlformats.org/officeDocument/2006/relationships/slideLayout" Target="/ppt/slideLayouts/slideLayout1.xml" Id="R0536d4f74a6944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36d4f74a6944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bba58aff74c18" /><Relationship Type="http://schemas.openxmlformats.org/officeDocument/2006/relationships/notesSlide" Target="/ppt/notesSlides/notesSlide1.xml" Id="R0debfb40d5d246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7884b639a4a99" /><Relationship Type="http://schemas.openxmlformats.org/officeDocument/2006/relationships/notesSlide" Target="/ppt/notesSlides/notesSlide2.xml" Id="R3595c01ea1704c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c0c5ba17d4652" /><Relationship Type="http://schemas.openxmlformats.org/officeDocument/2006/relationships/notesSlide" Target="/ppt/notesSlides/notesSlide3.xml" Id="Rf4b72c9fbdd245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f3627cf1a429b" /><Relationship Type="http://schemas.openxmlformats.org/officeDocument/2006/relationships/notesSlide" Target="/ppt/notesSlides/notesSlide4.xml" Id="R60fd8f9bb17342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4bba31f684877" /><Relationship Type="http://schemas.openxmlformats.org/officeDocument/2006/relationships/notesSlide" Target="/ppt/notesSlides/notesSlide5.xml" Id="R37df3b12150943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0d565c7424bb3" /><Relationship Type="http://schemas.openxmlformats.org/officeDocument/2006/relationships/notesSlide" Target="/ppt/notesSlides/notesSlide6.xml" Id="R70ad2f827eba4b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c61877d634814" /><Relationship Type="http://schemas.openxmlformats.org/officeDocument/2006/relationships/notesSlide" Target="/ppt/notesSlides/notesSlide7.xml" Id="R96c23b69d5ed47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9d34cb3864262" /><Relationship Type="http://schemas.openxmlformats.org/officeDocument/2006/relationships/notesSlide" Target="/ppt/notesSlides/notesSlide8.xml" Id="Rc47fe5bd8d5f4e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84bb5b0854520" /><Relationship Type="http://schemas.openxmlformats.org/officeDocument/2006/relationships/notesSlide" Target="/ppt/notesSlides/notesSlide9.xml" Id="Reb94c00e224c42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3713e13c544b0" /><Relationship Type="http://schemas.openxmlformats.org/officeDocument/2006/relationships/notesSlide" Target="/ppt/notesSlides/notesSlide10.xml" Id="Rab57aa8d3aa84c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7cf8ae69c4e1a" /><Relationship Type="http://schemas.openxmlformats.org/officeDocument/2006/relationships/notesSlide" Target="/ppt/notesSlides/notesSlide11.xml" Id="R199bb4e07ffb4c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DBADA5-9B4C-4D06-8FF5-71168FDD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150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E5C"/>
          </a:solidFill>
          <a:ln xmlns:a="http://schemas.openxmlformats.org/drawingml/2006/main" w="0">
            <a:solidFill>
              <a:srgbClr val="163E5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02464-CF43-433D-85D1-C22214FB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A921A-26C0-4513-ABAA-8446A14B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609" y="279332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3A652-5784-4041-AF50-816A4D2F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082" y="3433797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C3BFF-CF77-4791-896A-3FB9E3E7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451" y="3090192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8FB72-4760-4258-AF6C-2CE7F6F2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0449" y="364948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09A6A-60BE-4B01-87B1-3D172290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58FE0-CCF9-49C2-9EE8-68A2F62F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7583" y="321466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046BD-0C18-45A6-BD60-EE68B49B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563" y="346007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7E451-DF7E-4E4E-A985-EB02B8A4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668" y="3433797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E6DB9-EB06-4AE9-A38D-F7E8EB97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64" y="2652042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DDAF9-E1A7-43C4-90A7-28DD9C71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DF280-F6C6-4184-836E-6DA79250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5318" y="182789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BA1C8-B622-4B5D-BF6D-4563E239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433" y="186617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40035-433E-47E8-AFC1-09B29B0C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563" y="130242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8F7EA3-D31A-4932-B895-524EAFA8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018" y="67819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D8F24-3C13-4AC0-9BEB-A1AA4045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504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4CC04-9BF4-40CA-8DF5-16C8C522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0449" y="111301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8627F2-454A-4372-986F-BD6C57C7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922" y="93254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9CCD4B-94CB-4CCC-9B94-2455C4F3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317" y="186617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5B755E-71CB-4912-83FF-DA471259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609" y="196917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57865-FC83-406B-861E-071706BB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4787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5D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4729BE-DF86-4A48-9313-C11814F9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Mini-jogo bullet hell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E9D1D4-E229-40D5-B984-E1355195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4CCC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4CCC5"/>
                </a:solidFill>
                <a:latin typeface="Arial"/>
                <a:ea typeface="Arial"/>
                <a:cs typeface="Arial"/>
              </a:rPr>
              <a:t>estilo Touhou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97ED4F-4433-4C02-9C9C-E24CF1C3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7E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7EE"/>
                </a:solidFill>
                <a:latin typeface="Arial"/>
                <a:ea typeface="Arial"/>
                <a:cs typeface="Arial"/>
              </a:rPr>
              <a:t>Arquitetura orientada a eventos e máquinas de estados em Lua/LÖVE2D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C3595A-C19D-4563-8A0D-A2E9D7B4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4CC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17AE96-D5BE-4DBC-8DE4-E568A825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Disciplina: Sistemas Reativos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Apresentação acadêmica do projeto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4785A8-69D4-49DA-B46D-C90CC55B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CC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CCC5"/>
                </a:solidFill>
                <a:latin typeface="Arial"/>
                <a:ea typeface="Arial"/>
                <a:cs typeface="Arial"/>
              </a:rPr>
              <a:t>Lua · LÖVE2D · EventManager · FSM</a:t>
            </a:r>
          </a:p>
        </p:txBody>
      </p:sp>
    </p:spTree>
    <p:extLst>
      <p:ext uri="{BB962C8B-B14F-4D97-AF65-F5344CB8AC3E}">
        <p14:creationId xmlns:p14="http://schemas.microsoft.com/office/powerpoint/2010/main" val="3217292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95758B-8907-4D37-AF14-A8DE2CBB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solidFill>
              <a:srgbClr val="64CCC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DD280-E5A3-435C-B0B7-E44425E2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Problema e objetivo do projeto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1561F-D16A-462B-8E61-7738AC25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VISÃO GERAL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3DDF0-ACCB-4841-B114-5684DEDC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75E34-0FBC-47EC-A452-9D13EC16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Mini-jogo bullet hell em Lua/LÖVE2D · Sistemas Reativos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CE580-5882-4A99-A128-72C684C2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0557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F39BF-671A-44C9-B12A-AA598546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Construir um jogo que responda continuamente a entradas, colisões, temporizadores e mudanças de fase.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57C02-C6B8-4546-996B-4DCFD55E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5E6D4-0AF8-42C0-B57B-93D10263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479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Jogabilidade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3E745-0B83-4213-B7ED-3C5266B5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Movimento, foco, disparo e sobrevivência em alta densidade de projéteis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483EF-3A50-4787-87DF-CECE4A1D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D78"/>
          </a:solidFill>
          <a:ln xmlns:a="http://schemas.openxmlformats.org/drawingml/2006/main" w="0">
            <a:solidFill>
              <a:srgbClr val="3A9D7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10C58-33C4-4607-BACA-1F993777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38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Estrutura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802A6-3AB7-4364-813C-5C9D9A00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Módulos pequenos coordenados por eventos e estados explícitos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DA45B-1BEB-4EAF-89DE-4341F9BB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solidFill>
              <a:srgbClr val="E6A23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A15FC-8AB2-4571-AB19-9F04582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29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Evolução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A0C39-8520-4974-A0F6-409CD4CA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24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Timeline de inimigos, chefe multifásico e padrões reutilizáveis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6DDE7-2D82-4C03-95FC-30C9DC08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90650"/>
            <a:ext cx="4286250" cy="4095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14288">
            <a:solidFill>
              <a:srgbClr val="64CCC5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3EA20-2D00-4903-89B6-1C821B8A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716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CICLO DE JOGO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2BC25E-E9DE-42F4-AE42-9235860F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33625"/>
            <a:ext cx="20002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Entrada do jogador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727C65-9A25-460F-8568-683690A4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24250"/>
            <a:ext cx="20002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A9D78"/>
            </a:solidFill>
            <a:prstDash val="solid"/>
          </a:ln>
        </p:spPr>
        <p:txBody>
          <a:bodyPr xmlns:a="http://schemas.openxmlformats.org/drawingml/2006/main" anchor="ctr">
            <a:normAutofit fontScale="9692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Atualização do mundo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8E0AB3-BF69-488C-8025-E0AA7C61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24250"/>
            <a:ext cx="20002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5D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Eventos e colisões</a:t>
            </a:r>
          </a:p>
        </p:txBody>
      </p:sp>
      <p:cxnSp>
        <p:nvCxnSpPr>
          <p:cNvPr id="47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rot="16200000" flipH="1">
            <a:off x="9058275" y="2676525"/>
            <a:ext cx="600075" cy="10953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B87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20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8715375" y="3819525"/>
            <a:ext cx="190500" cy="0"/>
          </a:xfrm>
          <a:prstGeom xmlns:a="http://schemas.openxmlformats.org/drawingml/2006/main" prst="curvedConnector2">
            <a:avLst/>
          </a:prstGeom>
          <a:ln xmlns:a="http://schemas.openxmlformats.org/drawingml/2006/main" w="19050">
            <a:solidFill>
              <a:srgbClr val="3A9D78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21" idx="0"/>
            <a:endCxn xmlns:a="http://schemas.openxmlformats.org/drawingml/2006/main" id="19" idx="1"/>
          </p:cNvCxnSpPr>
          <p:nvPr/>
        </p:nvCxnSpPr>
        <p:spPr>
          <a:xfrm xmlns:a="http://schemas.openxmlformats.org/drawingml/2006/main" rot="5400000">
            <a:off x="7315200" y="3028950"/>
            <a:ext cx="895350" cy="952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D95D5D"/>
            </a:solidFill>
            <a:prstDash val="solid"/>
            <a:tail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6D617D-A62C-41B6-B8F6-12E185F3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62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 laço se repete a cada frame</a:t>
            </a:r>
          </a:p>
        </p:txBody>
      </p:sp>
    </p:spTree>
    <p:extLst>
      <p:ext uri="{BB962C8B-B14F-4D97-AF65-F5344CB8AC3E}">
        <p14:creationId xmlns:p14="http://schemas.microsoft.com/office/powerpoint/2010/main" val="6021847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120F57-87FE-4F01-B30D-38A359DE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solidFill>
              <a:srgbClr val="64CCC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E291E-C0C1-4CD4-8DCD-8C97E130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Arquitetura orientada a eventos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88907-C271-4EE5-8A1E-FCFF5C67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ARQUITETURA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A1A7C-F839-45EB-ACBC-9020B02D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F4594-30F5-4521-B5D7-C2268B82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Mini-jogo bullet hell em Lua/LÖVE2D · Sistemas Reativos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A6BE7-5C81-487C-9BBE-60C345F9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0557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50229-05D1-4487-8636-F4A2966F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24125"/>
            <a:ext cx="3048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EventManager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publica e distribui eventos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61EB8-1970-4D86-B5EA-11F7F390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2333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GameStateMachine</a:t>
            </a:r>
          </a:p>
          <a:p xmlns:a="http://schemas.openxmlformats.org/drawingml/2006/main">
            <a:pPr algn="ctr">
              <a:defRPr sz="13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estado global</a:t>
            </a:r>
          </a:p>
        </p:txBody>
      </p: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76625" y="1819275"/>
            <a:ext cx="1095375" cy="1228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B87"/>
            </a:solidFill>
            <a:prstDash val="solid"/>
            <a:tailEnd type="arrow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23117-3667-4594-910A-B4120767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333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A9D7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StageController</a:t>
            </a:r>
          </a:p>
          <a:p xmlns:a="http://schemas.openxmlformats.org/drawingml/2006/main">
            <a:pPr algn="ctr">
              <a:defRPr sz="13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timeline</a:t>
            </a:r>
          </a:p>
        </p:txBody>
      </p:sp>
      <p:cxnSp>
        <p:nvCxnSpPr>
          <p:cNvPr id="30" name="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476625" y="3048000"/>
            <a:ext cx="1095375" cy="1438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A9D78"/>
            </a:solidFill>
            <a:prstDash val="solid"/>
            <a:tailEnd type="arrow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BA04A-CDAF-4D4F-8A27-251A5C7E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8250"/>
            <a:ext cx="2333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4CCC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Player</a:t>
            </a:r>
          </a:p>
          <a:p xmlns:a="http://schemas.openxmlformats.org/drawingml/2006/main">
            <a:pPr algn="ctr">
              <a:defRPr sz="13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entrada e vida</a:t>
            </a:r>
          </a:p>
        </p:txBody>
      </p:sp>
      <p:cxnSp>
        <p:nvCxnSpPr>
          <p:cNvPr id="32" name=""/>
          <p:cNvCxnSpPr>
            <a:stCxn xmlns:a="http://schemas.openxmlformats.org/drawingml/2006/main" id="12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620000" y="1628775"/>
            <a:ext cx="1047750" cy="1419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4CCC5"/>
            </a:solidFill>
            <a:prstDash val="solid"/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46576-BDF7-4628-A0CC-E786148E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333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5D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Enemy / Boss</a:t>
            </a:r>
          </a:p>
          <a:p xmlns:a="http://schemas.openxmlformats.org/drawingml/2006/main">
            <a:pPr algn="ctr">
              <a:defRPr sz="13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comportamento</a:t>
            </a:r>
          </a:p>
        </p:txBody>
      </p:sp>
      <p:cxnSp>
        <p:nvCxnSpPr>
          <p:cNvPr id="34" name=""/>
          <p:cNvCxnSpPr>
            <a:stCxn xmlns:a="http://schemas.openxmlformats.org/drawingml/2006/main" id="14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7620000" y="3048000"/>
            <a:ext cx="1047750" cy="200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D95D5D"/>
            </a:solidFill>
            <a:prstDash val="soli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0A57E-83FB-409E-A212-5695B91A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76750"/>
            <a:ext cx="2333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A23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BulletManager</a:t>
            </a:r>
          </a:p>
          <a:p xmlns:a="http://schemas.openxmlformats.org/drawingml/2006/main">
            <a:pPr algn="ctr">
              <a:defRPr sz="13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projéteis</a:t>
            </a:r>
          </a:p>
        </p:txBody>
      </p:sp>
      <p:cxnSp>
        <p:nvCxnSpPr>
          <p:cNvPr id="36" name=""/>
          <p:cNvCxnSpPr>
            <a:stCxn xmlns:a="http://schemas.openxmlformats.org/drawingml/2006/main" id="1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7620000" y="3048000"/>
            <a:ext cx="1047750" cy="1819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6A23C"/>
            </a:solidFill>
            <a:prstDash val="solid"/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E5F46-992F-4E08-B328-2829DAB8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33875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62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Os módulos não precisam conhecer a implementação uns dos outros. Eles conhecem eventos e contratos.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B53181-1D86-4F7E-8780-47E52228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340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Resultado: menor acoplamento e novos padrões de jogo sem reescrever o fluxo central</a:t>
            </a:r>
          </a:p>
        </p:txBody>
      </p:sp>
    </p:spTree>
    <p:extLst>
      <p:ext uri="{BB962C8B-B14F-4D97-AF65-F5344CB8AC3E}">
        <p14:creationId xmlns:p14="http://schemas.microsoft.com/office/powerpoint/2010/main" val="2109526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C6F48-2E9F-4A3A-9086-D0FB4F09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solidFill>
              <a:srgbClr val="64CCC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3B1FA-4E1E-4776-AF75-5C4AF3D0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Diagrama de classes e responsabilidades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9CC2B-871E-4EC4-A301-93B8F697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ARQUITETURA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77CB9-DFCC-44BB-AC2D-8ED0CD35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1FD71-92D1-407C-976B-2E076C67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Mini-jogo bullet hell em Lua/LÖVE2D · Sistemas Reativos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E7ED5-5B4F-4366-903D-AF7E44FB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0557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A62F0-D896-4F2E-BBD7-DBD35047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5717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GameStateMachine</a:t>
            </a:r>
          </a:p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controla menu, fase, boss e vitória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4C50E-3B55-490A-8B29-528A6D4C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219200"/>
            <a:ext cx="25717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EventManager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subscribe · emit · dispatch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74546-6F9D-4B8D-B702-7D1B35FE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25717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A9D7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StageController</a:t>
            </a:r>
          </a:p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timeline e emissão de spawns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7DF44-364E-4D3A-89BC-E66BD02A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85875"/>
            <a:ext cx="2714625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4CCC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Player</a:t>
            </a:r>
          </a:p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FSM, entrada, dano e disparo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AD595-F19E-43D1-9914-85D013C5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2714625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5D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Enemy</a:t>
            </a:r>
          </a:p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FSM e comportamento comum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007DD-97CD-4AA1-92B0-52699F3D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14875"/>
            <a:ext cx="2714625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A23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Boss</a:t>
            </a:r>
          </a:p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FSM de fases e movimentação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08129-DA14-4BBD-94B9-A820D4A3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8575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BulletPatterns</a:t>
            </a:r>
          </a:p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circle · aimed · spread · spiral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F33B9-C025-4D41-AF44-57972B12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95875"/>
            <a:ext cx="28575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BulletManager</a:t>
            </a:r>
          </a:p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criação, atualização e colisões</a:t>
            </a:r>
          </a:p>
        </p:txBody>
      </p: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38500" y="1666875"/>
            <a:ext cx="1571625" cy="161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B87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38500" y="1666875"/>
            <a:ext cx="1571625" cy="2066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A9D78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381875" y="1666875"/>
            <a:ext cx="1381125" cy="66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4CCC5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381875" y="1666875"/>
            <a:ext cx="1381125" cy="1781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D95D5D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381875" y="1666875"/>
            <a:ext cx="1381125" cy="3495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6A23C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11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7524750" y="3448050"/>
            <a:ext cx="123825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D95D5D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 flipV="1">
            <a:off x="7524750" y="3781425"/>
            <a:ext cx="1238250" cy="1381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6A23C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10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7524750" y="1733550"/>
            <a:ext cx="1238250" cy="3810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4CCC5"/>
            </a:solidFill>
            <a:prstDash val="soli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96000" y="4229100"/>
            <a:ext cx="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87"/>
            </a:solidFill>
            <a:prstDash val="solid"/>
            <a:tailEnd type="arrow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F4730-39CA-4962-97E3-18817701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143625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6B73"/>
                </a:solidFill>
                <a:latin typeface="Arial"/>
                <a:ea typeface="Arial"/>
                <a:cs typeface="Arial"/>
              </a:rPr>
              <a:t>SETAS INDICAM DEPENDÊNCIA OU ENVIO DE MENSAGENS</a:t>
            </a:r>
          </a:p>
        </p:txBody>
      </p:sp>
    </p:spTree>
    <p:extLst>
      <p:ext uri="{BB962C8B-B14F-4D97-AF65-F5344CB8AC3E}">
        <p14:creationId xmlns:p14="http://schemas.microsoft.com/office/powerpoint/2010/main" val="1337406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E6366-3CA1-4ACE-A664-335A252C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solidFill>
              <a:srgbClr val="64CCC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A7739-FC51-42DE-9801-88319638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Máquina de estados global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20CA7-5BEB-4920-8439-C548EF42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CONTROLE DO JOGO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B02F9-5095-49E8-9884-31A8773A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68EEB-1EEC-449D-9F0C-A41781A6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Mini-jogo bullet hell em Lua/LÖVE2D · Sistemas Reativos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461DE-249F-457B-92E1-52DC125C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0557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538CF-DE56-409B-92C1-BD61E593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1619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5C6B73"/>
          </a:solidFill>
          <a:ln xmlns:a="http://schemas.openxmlformats.org/drawingml/2006/main" w="14288">
            <a:solidFill>
              <a:srgbClr val="5C6B7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1AE95-3907-4B1A-9ABA-31C44BBC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19375"/>
            <a:ext cx="1619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14288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PLAYING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0AFAE-FEC2-4C3D-9EF8-5BDA14D5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19375"/>
            <a:ext cx="1619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95D5D"/>
          </a:solidFill>
          <a:ln xmlns:a="http://schemas.openxmlformats.org/drawingml/2006/main" w="14288">
            <a:solidFill>
              <a:srgbClr val="D95D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AEFCD-7388-4514-89C6-93C6F505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1619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A9D78"/>
          </a:solidFill>
          <a:ln xmlns:a="http://schemas.openxmlformats.org/drawingml/2006/main" w="14288">
            <a:solidFill>
              <a:srgbClr val="3A9D7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VICTORY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0C004-F56D-4FC3-A33E-2E89E66A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71875"/>
            <a:ext cx="1619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GAME OVER</a:t>
            </a:r>
          </a:p>
        </p:txBody>
      </p: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24125" y="2952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87"/>
            </a:solidFill>
            <a:prstDash val="solid"/>
            <a:tail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25621-08DE-4E8F-BBBA-27753E9F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574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START_GAME</a:t>
            </a:r>
          </a:p>
        </p:txBody>
      </p: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619625" y="2952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5D5D"/>
            </a:solidFill>
            <a:prstDash val="soli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EFEE5-1459-440A-B7DF-4F35CBB0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574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5D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5D5D"/>
                </a:solidFill>
                <a:latin typeface="Arial"/>
                <a:ea typeface="Arial"/>
                <a:cs typeface="Arial"/>
              </a:rPr>
              <a:t>STAGE_FINISHED</a:t>
            </a:r>
          </a:p>
        </p:txBody>
      </p: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00875" y="2143125"/>
            <a:ext cx="762000" cy="809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A9D78"/>
            </a:solidFill>
            <a:prstDash val="solid"/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2B583-AF11-4A14-A3E8-0D3F5381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A9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A9D78"/>
                </a:solidFill>
                <a:latin typeface="Arial"/>
                <a:ea typeface="Arial"/>
                <a:cs typeface="Arial"/>
              </a:rPr>
              <a:t>BOSS_DEFEATED</a:t>
            </a:r>
          </a:p>
        </p:txBody>
      </p:sp>
      <p:cxnSp>
        <p:nvCxnSpPr>
          <p:cNvPr id="39" name=""/>
          <p:cNvCxnSpPr>
            <a:stCxn xmlns:a="http://schemas.openxmlformats.org/drawingml/2006/main" id="8" idx="2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10000" y="3286125"/>
            <a:ext cx="3952875" cy="619125"/>
          </a:xfrm>
          <a:prstGeom xmlns:a="http://schemas.openxmlformats.org/drawingml/2006/main" prst="bentConnector5">
            <a:avLst>
              <a:gd name="adj1" fmla="val 0"/>
              <a:gd name="adj2" fmla="val 36923"/>
              <a:gd name="adj3" fmla="val 94217"/>
            </a:avLst>
          </a:prstGeom>
          <a:ln xmlns:a="http://schemas.openxmlformats.org/drawingml/2006/main" w="19050">
            <a:solidFill>
              <a:srgbClr val="102A43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9" idx="2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191250" y="3286125"/>
            <a:ext cx="1571625" cy="619125"/>
          </a:xfrm>
          <a:prstGeom xmlns:a="http://schemas.openxmlformats.org/drawingml/2006/main" prst="bentConnector5">
            <a:avLst>
              <a:gd name="adj1" fmla="val 0"/>
              <a:gd name="adj2" fmla="val 36923"/>
              <a:gd name="adj3" fmla="val 85455"/>
            </a:avLst>
          </a:prstGeom>
          <a:ln xmlns:a="http://schemas.openxmlformats.org/drawingml/2006/main" w="19050">
            <a:solidFill>
              <a:srgbClr val="102A43"/>
            </a:solidFill>
            <a:prstDash val="solid"/>
            <a:tail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2E2D7-2F3C-4B8E-805B-CD32E988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76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PLAYER_GAME_OVER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7004F-D683-4E2E-A8D0-444FEF91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FSM global restringe quais regras e entidades ficam ativas em cada momento da execução.</a:t>
            </a:r>
          </a:p>
        </p:txBody>
      </p:sp>
    </p:spTree>
    <p:extLst>
      <p:ext uri="{BB962C8B-B14F-4D97-AF65-F5344CB8AC3E}">
        <p14:creationId xmlns:p14="http://schemas.microsoft.com/office/powerpoint/2010/main" val="5101817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5D6CD7-5876-46FB-9DA6-05A09240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solidFill>
              <a:srgbClr val="64CCC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2757F-468E-455A-A052-78C77382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Máquinas de estados das entidades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BC219-5C10-4D05-9C2E-DC0F8696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COMPORTAMENTO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84D07-F879-4A70-BDDD-05D7C6D2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8DB73-1C81-44F5-A734-4AD40014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Mini-jogo bullet hell em Lua/LÖVE2D · Sistemas Reativos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C5A32-F017-46F1-81E2-9AFCC8FE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0557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B5409-75E5-42F8-8961-672C0CF4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4CCC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4CCC5"/>
                </a:solidFill>
                <a:latin typeface="Arial"/>
                <a:ea typeface="Arial"/>
                <a:cs typeface="Arial"/>
              </a:rPr>
              <a:t>Player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E6C8A-ED14-43A0-B168-5CFAD728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81125"/>
            <a:ext cx="16192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4CCC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C972A-4B68-4FCE-9FCF-11C7CED6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81125"/>
            <a:ext cx="16192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14288">
            <a:solidFill>
              <a:srgbClr val="64CCC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A8BE2-71C1-4D98-AEC4-3FC6AEF0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16192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4CCC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invincible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5C22F-2558-4712-940E-2FA09C53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81125"/>
            <a:ext cx="16192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4CCC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dead</a:t>
            </a:r>
          </a:p>
        </p:txBody>
      </p: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00500" y="16573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CCC5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96000" y="16573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CCC5"/>
            </a:solidFill>
            <a:prstDash val="soli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191500" y="16573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CCC5"/>
            </a:solidFill>
            <a:prstDash val="soli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DE8AF-BD1F-4AC6-B736-7F8AF5D2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240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PLAYER_HIT ativa invencibilidade temporária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80825-4880-430F-97B7-59F8397D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5D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5D5D"/>
                </a:solidFill>
                <a:latin typeface="Arial"/>
                <a:ea typeface="Arial"/>
                <a:cs typeface="Arial"/>
              </a:rPr>
              <a:t>Enemy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C8B5B-90CD-4849-AD07-3E2EA994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52750"/>
            <a:ext cx="16192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5D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entering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0D15A-D439-49CA-AB7F-B18FE3D7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16192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14288">
            <a:solidFill>
              <a:srgbClr val="D95D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attacking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79C61-87C6-4A48-A019-A9389A96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16192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5D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leaving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F27A7-0644-4AD3-9E7D-77DA081E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16192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5D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dead</a:t>
            </a:r>
          </a:p>
        </p:txBody>
      </p:sp>
      <p:cxnSp>
        <p:nvCxnSpPr>
          <p:cNvPr id="54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000500" y="32289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5D5D"/>
            </a:solidFill>
            <a:prstDash val="soli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096000" y="32289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5D5D"/>
            </a:solidFill>
            <a:prstDash val="soli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91500" y="32289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5D5D"/>
            </a:solidFill>
            <a:prstDash val="solid"/>
            <a:tailEnd type="arrow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39C9FD-E19D-4505-8B2A-12A70052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957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Movimento e ataque mudam sem condicionais dispersas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1D1097-60C7-4343-A296-4B8404E1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14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5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Responsabilidade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519301-D3F1-41C1-943F-A3F68BD1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24375"/>
            <a:ext cx="16192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A6878F-D350-404D-96F1-F6962B30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16192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14288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regra ativa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0EF969-2390-4F58-ACB2-485BEA75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24375"/>
            <a:ext cx="16192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transição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F87DEE-8B10-4FDC-A01B-40220E11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24375"/>
            <a:ext cx="16192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efeito</a:t>
            </a:r>
          </a:p>
        </p:txBody>
      </p:sp>
      <p:cxnSp>
        <p:nvCxnSpPr>
          <p:cNvPr id="63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000500" y="4800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87"/>
            </a:solidFill>
            <a:prstDash val="solid"/>
            <a:tailEnd type="arrow" w="sm" len="sm"/>
          </a:ln>
        </p:spPr>
      </p:cxnSp>
      <p:cxnSp>
        <p:nvCxnSpPr>
          <p:cNvPr id="64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6096000" y="4800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87"/>
            </a:solidFill>
            <a:prstDash val="solid"/>
            <a:tailEnd type="arrow" w="sm" len="sm"/>
          </a:ln>
        </p:spPr>
      </p:cxnSp>
      <p:cxnSp>
        <p:nvCxnSpPr>
          <p:cNvPr id="65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8191500" y="4800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87"/>
            </a:solidFill>
            <a:prstDash val="solid"/>
            <a:tail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DBC655-AAA0-47BE-9F7B-C2E0A062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6732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Cada atualização executa apenas o comportamento do estado atual</a:t>
            </a:r>
          </a:p>
        </p:txBody>
      </p:sp>
    </p:spTree>
    <p:extLst>
      <p:ext uri="{BB962C8B-B14F-4D97-AF65-F5344CB8AC3E}">
        <p14:creationId xmlns:p14="http://schemas.microsoft.com/office/powerpoint/2010/main" val="1267329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F87FF1-6856-4895-9CA9-4D5B999D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solidFill>
              <a:srgbClr val="64CCC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E454E-3191-4423-B27F-6AA20F2E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FSM do boss: dificuldade por fases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1A033-DF28-485F-93D0-F75391EA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BOSS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149F6-9907-42B2-ADD2-248898A1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D7421-22AB-464C-B5BB-1F2E9950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Mini-jogo bullet hell em Lua/LÖVE2D · Sistemas Reativos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70BE1-E52C-4043-BE21-A54E5002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0557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5F3A6-5CED-47C4-8FBA-E831AB5E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666875" cy="904875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5C6B73"/>
          </a:solidFill>
          <a:ln xmlns:a="http://schemas.openxmlformats.org/drawingml/2006/main" w="14288">
            <a:solidFill>
              <a:srgbClr val="5C6B7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entering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entrada na arena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44FA6-8DDC-4928-8761-A7A3EF6D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81250"/>
            <a:ext cx="1666875" cy="904875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14288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phase1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anéis + tiro mirado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86B58-45D9-4773-B95E-90212E73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1666875" cy="904875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3A9D78"/>
          </a:solidFill>
          <a:ln xmlns:a="http://schemas.openxmlformats.org/drawingml/2006/main" w="14288">
            <a:solidFill>
              <a:srgbClr val="3A9D7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phase2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espiral + leque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4FD66-CF54-4E55-8D6A-9F48600F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81250"/>
            <a:ext cx="1666875" cy="904875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D95D5D"/>
          </a:solidFill>
          <a:ln xmlns:a="http://schemas.openxmlformats.org/drawingml/2006/main" w="14288">
            <a:solidFill>
              <a:srgbClr val="D95D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phase3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espiral dupla + anéis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61823-502D-41BF-907F-D648467F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1666875" cy="904875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defeated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fim do combate</a:t>
            </a:r>
          </a:p>
        </p:txBody>
      </p: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33625" y="28336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87"/>
            </a:solidFill>
            <a:prstDash val="solid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381500" y="28336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9D78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429375" y="28336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5D5D"/>
            </a:solidFill>
            <a:prstDash val="solid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477250" y="28336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45891-8B29-431C-B08E-7FB6FE99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19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6B73"/>
                </a:solidFill>
                <a:latin typeface="Arial"/>
                <a:ea typeface="Arial"/>
                <a:cs typeface="Arial"/>
              </a:rPr>
              <a:t>POSITION_REACHED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C3951-2A44-4D83-9900-C4562507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19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6B73"/>
                </a:solidFill>
                <a:latin typeface="Arial"/>
                <a:ea typeface="Arial"/>
                <a:cs typeface="Arial"/>
              </a:rPr>
              <a:t>HP ≤ 70%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CAB995-4EFC-43D2-80D9-F8B9CFD0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19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6B73"/>
                </a:solidFill>
                <a:latin typeface="Arial"/>
                <a:ea typeface="Arial"/>
                <a:cs typeface="Arial"/>
              </a:rPr>
              <a:t>HP ≤ 35%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C6987B-D5A5-4136-9D00-FCB197CC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6B73"/>
                </a:solidFill>
                <a:latin typeface="Arial"/>
                <a:ea typeface="Arial"/>
                <a:cs typeface="Arial"/>
              </a:rPr>
              <a:t>HP ≤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415DA-F520-4AB9-B2AF-1BAAE218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1666875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Movimento horizontal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80CB9C-6E05-4CF6-80BD-9A3E32C3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95750"/>
            <a:ext cx="1666875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A9D7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Pontos aleatórios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83153F-663A-4885-9387-A9FD5BDF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1666875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5D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Horizontal acelerado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C2951B-736C-42DA-AB27-B27B25F0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387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BOSS_PHASE_CHANGED comunica a transição. BOSS_SHOOT solicita o padrão de projéteis. BOSS_DEFEATED encerra o encontro.</a:t>
            </a:r>
          </a:p>
        </p:txBody>
      </p:sp>
    </p:spTree>
    <p:extLst>
      <p:ext uri="{BB962C8B-B14F-4D97-AF65-F5344CB8AC3E}">
        <p14:creationId xmlns:p14="http://schemas.microsoft.com/office/powerpoint/2010/main" val="12201708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84C789-8FDB-483C-AD4E-BAEEA6D0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solidFill>
              <a:srgbClr val="64CCC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CDFAA-E007-4F95-8B32-F5948CFA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StageController e timeline de spawn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C9255-8B41-4ACF-BFBB-F5518FAA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TEMPORIZAÇÃO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2CC22-C382-4E74-9C36-BDA7CF7E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B35CD-9FFC-423E-8A2F-E548E3FB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Mini-jogo bullet hell em Lua/LÖVE2D · Sistemas Reativos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E07BF-EDF2-476A-AE0C-5DC2001B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0557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1BDAD-1B62-4604-9597-38C3B6B6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6B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CD69D-26DC-4770-87F7-8BAD0F02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33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1BC1F-9894-462E-9672-EC8B3B3E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4792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B87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FA5F7-49C0-40C2-8333-8E0F5202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621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0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E857B-6C86-4010-ABED-060C3FCD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176212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START_GAME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68B90-4CD8-42B6-BE4B-B5DD647A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33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D78"/>
          </a:soli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EAA0D-EE8F-4ECF-887E-3474E4BB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257550"/>
            <a:ext cx="0" cy="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9D78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33989-7003-4EE9-A6F7-61DC99C6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671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A9D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A9D78"/>
                </a:solidFill>
                <a:latin typeface="Arial"/>
                <a:ea typeface="Arial"/>
                <a:cs typeface="Arial"/>
              </a:rPr>
              <a:t>2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46C88-4D7A-4531-98CF-DBCC9763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990975"/>
            <a:ext cx="176212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A9D7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SPAWN_ENEMY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F0F7F-EB1F-416E-A78B-DB946767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33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D78"/>
          </a:soli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C7ED0-E0B1-4156-99EB-88642A63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4792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9D78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1E5F9E-7CFC-4402-AC14-8A0B9FB0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7621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A9D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A9D78"/>
                </a:solidFill>
                <a:latin typeface="Arial"/>
                <a:ea typeface="Arial"/>
                <a:cs typeface="Arial"/>
              </a:rPr>
              <a:t>6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C0143B-5D38-47E9-94FA-27EE79E5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85975"/>
            <a:ext cx="176212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A9D7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SPAWN_ENEMY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E48F9-6A83-4D45-8494-1C5610A9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33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A9476-690F-4402-A1AE-0FF909C8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257550"/>
            <a:ext cx="0" cy="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A23C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A5E993-9AD7-4C1A-A636-94CE6E82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671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6A23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6A23C"/>
                </a:solidFill>
                <a:latin typeface="Arial"/>
                <a:ea typeface="Arial"/>
                <a:cs typeface="Arial"/>
              </a:rPr>
              <a:t>10 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A28BB-F697-402B-A4D3-63447029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90975"/>
            <a:ext cx="176212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A23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ENEMY_SHOOT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3903D2-C307-4226-AB3E-DAFBED9A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33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5D"/>
          </a:solidFill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DB0096-5C11-4A12-8AB1-EBF2602C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4792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5D5D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68D5ED-88D5-4BC4-8D8A-F74FB3BB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7621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5D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5D5D"/>
                </a:solidFill>
                <a:latin typeface="Arial"/>
                <a:ea typeface="Arial"/>
                <a:cs typeface="Arial"/>
              </a:rPr>
              <a:t>fim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4A4DDA-ECF5-496F-8F8D-1463F888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85975"/>
            <a:ext cx="176212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5D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STAGE_FINISHED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97D7EB-C3BF-4C7F-B68B-D28C6CA5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95875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58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 tempo de fase funciona como entrada reativa. Ao atingir um marco, o controlador publica o evento correspondente.</a:t>
            </a:r>
          </a:p>
        </p:txBody>
      </p:sp>
    </p:spTree>
    <p:extLst>
      <p:ext uri="{BB962C8B-B14F-4D97-AF65-F5344CB8AC3E}">
        <p14:creationId xmlns:p14="http://schemas.microsoft.com/office/powerpoint/2010/main" val="9175261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E6A736-2EBC-4704-8F74-6CF7C44C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solidFill>
              <a:srgbClr val="64CCC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8ACA1-166E-4774-8CA8-786B9435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Fluxo de eventos e projéteis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440D6-6B3A-44D7-9418-983649F2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EXECUÇÃO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4E8C4-95CA-4888-B5AF-0A87A9A2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477C0-ADE6-410B-B52E-4B24EB7F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Mini-jogo bullet hell em Lua/LÖVE2D · Sistemas Reativos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F4E2E-DF1A-45A0-A191-9C5CF600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0557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40946-F86A-4148-866C-5C7BC0FD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285875"/>
            <a:ext cx="1333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StageController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F778B-FCC9-4555-9CA8-2F4EA4A7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E7138-C70D-4730-A3D3-5A9477B5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85875"/>
            <a:ext cx="1333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EventManager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BCE9F-00E7-4A40-89C4-96613A44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BA5D0-82E8-468F-B1B4-A7883B2B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285875"/>
            <a:ext cx="1333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Enemy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7FFF4-B3CC-47A6-A173-7913E8BA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18AC6-CE11-4D2F-8624-31419282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85875"/>
            <a:ext cx="1333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BulletPatterns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26F22-A09F-4000-A72A-59CA8BAE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526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9A70D-ED62-41F1-BD10-99E0A074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285875"/>
            <a:ext cx="1333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BulletManager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72E1D-5E02-4344-8C30-49DDA297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98343-6B8C-4DBF-897F-BB42E04F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285875"/>
            <a:ext cx="1333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8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Player / Enemy / Boss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43A1D-C7BA-48E7-8E3D-6959CD5D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9526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CBFA3-84F6-4715-9AD1-453CDE42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95525"/>
            <a:ext cx="1905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9D78"/>
          </a:solidFill>
          <a:ln xmlns:a="http://schemas.openxmlformats.org/drawingml/2006/main" w="0">
            <a:solidFill>
              <a:srgbClr val="3A9D7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CEB3A-400C-48B5-A44E-6BB055DE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1240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A9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A9D78"/>
                </a:solidFill>
                <a:latin typeface="Arial"/>
                <a:ea typeface="Arial"/>
                <a:cs typeface="Arial"/>
              </a:rPr>
              <a:t>SPAWN_ENEMY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3E6214-7550-4707-A651-40DAA743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19400"/>
            <a:ext cx="1905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9D78"/>
          </a:solidFill>
          <a:ln xmlns:a="http://schemas.openxmlformats.org/drawingml/2006/main" w="0">
            <a:solidFill>
              <a:srgbClr val="3A9D7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E00BA1-6687-4341-BF9B-D75E9E72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479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A9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A9D78"/>
                </a:solidFill>
                <a:latin typeface="Arial"/>
                <a:ea typeface="Arial"/>
                <a:cs typeface="Arial"/>
              </a:rPr>
              <a:t>criar inimigo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766130-9228-46DC-A8C8-B1EC949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38525"/>
            <a:ext cx="1905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solidFill>
              <a:srgbClr val="E6A23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245DAF-BD68-452D-8D6C-F7E51655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670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6A23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6A23C"/>
                </a:solidFill>
                <a:latin typeface="Arial"/>
                <a:ea typeface="Arial"/>
                <a:cs typeface="Arial"/>
              </a:rPr>
              <a:t>ENEMY_SHOOT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CF6937-22DA-404D-93BF-A031A22E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62400"/>
            <a:ext cx="3810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solidFill>
              <a:srgbClr val="E6A23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2F0902-7B1D-40F6-AC05-07429126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90950"/>
            <a:ext cx="365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6A23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6A23C"/>
                </a:solidFill>
                <a:latin typeface="Arial"/>
                <a:ea typeface="Arial"/>
                <a:cs typeface="Arial"/>
              </a:rPr>
              <a:t>selecionar padrão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D864EF-8157-4C92-8B58-B6408923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81525"/>
            <a:ext cx="1905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827135-47C0-4C3F-9B5A-60383B84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create(x, y, angle)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308E92-A1BA-40F1-A98E-9C660273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200650"/>
            <a:ext cx="1905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5D5D"/>
          </a:solidFill>
          <a:ln xmlns:a="http://schemas.openxmlformats.org/drawingml/2006/main" w="0">
            <a:solidFill>
              <a:srgbClr val="D95D5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A8A649-91A3-4E2E-B0AE-E7C2905E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0292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5D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5D5D"/>
                </a:solidFill>
                <a:latin typeface="Arial"/>
                <a:ea typeface="Arial"/>
                <a:cs typeface="Arial"/>
              </a:rPr>
              <a:t>colisão / dano</a:t>
            </a:r>
          </a:p>
        </p:txBody>
      </p:sp>
    </p:spTree>
    <p:extLst>
      <p:ext uri="{BB962C8B-B14F-4D97-AF65-F5344CB8AC3E}">
        <p14:creationId xmlns:p14="http://schemas.microsoft.com/office/powerpoint/2010/main" val="9632966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C62C0-372D-4634-B039-84258960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solidFill>
              <a:srgbClr val="64CCC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78357-DBF0-476F-8BDB-464CDE02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Relação com Sistemas Reativos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4893C-A75C-41BF-ABE1-944BC43B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FUNDAMENTAÇÃO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4E8F8-AF13-49B8-868A-AC0AD289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16F22-0910-467B-9C93-92B7C34C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Mini-jogo bullet hell em Lua/LÖVE2D · Sistemas Reativos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5F79D-696F-46F9-8C97-9EDEB74C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0557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765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927D1-00D4-40E0-9F35-1D541CC5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solidFill>
              <a:srgbClr val="64CCC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07E38-098F-4F10-8C87-47687906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0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Eventos externos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44257-8DCD-41D6-AFD9-323BA698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621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teclado, foco e colisões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97804-4B10-46ED-9C0A-13CE3EEA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28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5D"/>
          </a:solidFill>
          <a:ln xmlns:a="http://schemas.openxmlformats.org/drawingml/2006/main" w="0">
            <a:solidFill>
              <a:srgbClr val="D95D5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B4402-B2E5-4634-965F-4D257A53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0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Eventos internos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D4F0B-4121-40F2-8B9F-C581686B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621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destruição, mudança de fase e derrota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19EA2-BFE9-4867-9510-EA9C3BDD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solidFill>
              <a:srgbClr val="E6A23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B38BF-7D16-4BB6-83C1-0484E367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0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Eventos temporais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0CBDC-1917-4BDA-9440-087862C6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timeline, cooldown e invencibilidade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B60FB-3673-4DF4-B971-C1D53742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67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4BAB59-69C4-4608-BCEC-616FA1A2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480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Concorrência lógica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27B01-BFB0-41CB-B388-A9B484F2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005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jogador, inimigos, boss e projéteis atualizam no mesmo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9B021B-4D42-4673-8FFE-F2C29377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D78"/>
          </a:solidFill>
          <a:ln xmlns:a="http://schemas.openxmlformats.org/drawingml/2006/main" w="0">
            <a:solidFill>
              <a:srgbClr val="3A9D7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1A400-BDCD-4B0F-B6C2-5397C964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480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Baixo acoplamento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624E6-C4E6-4325-984A-684773D1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publicadores e assinantes se comunicam por eventos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6DC63-9AD2-4F4A-92E9-C6A10C94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215065-F3E2-49A0-A1B3-95A90CE8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14950"/>
            <a:ext cx="942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 sistema permanece ativo, observa mudanças no ambiente e produz respostas dentro de restrições de tempo e estado.</a:t>
            </a:r>
          </a:p>
        </p:txBody>
      </p:sp>
    </p:spTree>
    <p:extLst>
      <p:ext uri="{BB962C8B-B14F-4D97-AF65-F5344CB8AC3E}">
        <p14:creationId xmlns:p14="http://schemas.microsoft.com/office/powerpoint/2010/main" val="3625006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E22F29-A37C-4E48-951C-D0AFD7CF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CC5"/>
          </a:solidFill>
          <a:ln xmlns:a="http://schemas.openxmlformats.org/drawingml/2006/main" w="0">
            <a:solidFill>
              <a:srgbClr val="64CCC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F0333-FC2F-4B7F-82EC-7D10CAE1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Síntese e possibilidades de evolução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556A7-A59A-47C4-99F6-1378F153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64332-FCD8-470D-9F73-238C1D68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DF10F-8DC6-4E2A-83D7-CC5D50EC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Mini-jogo bullet hell em Lua/LÖVE2D · Sistemas Reativos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DFB7B-0370-4EA7-A97E-D0414D00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0557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423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B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B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5881A-0C81-4F1F-9BCB-09B3F9A1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44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 projeto transforma conceitos da disciplina em comportamento observável durante a execução.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0466A-BF0A-40D9-8F19-D21C6CC6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02A0D-705E-42FB-80B2-5B707FA5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452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B56"/>
                </a:solidFill>
                <a:latin typeface="Arial"/>
                <a:ea typeface="Arial"/>
                <a:cs typeface="Arial"/>
              </a:rPr>
              <a:t>Eventos coordenam módulos sem dependências rígidas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4320A-26BB-4B75-A829-FDB084B2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D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ED8F3-52DA-4F50-81EE-F24F0EF0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452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B56"/>
                </a:solidFill>
                <a:latin typeface="Arial"/>
                <a:ea typeface="Arial"/>
                <a:cs typeface="Arial"/>
              </a:rPr>
              <a:t>FSMs tornam transições explícitas e verificáveis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87FD5-F348-498D-91C1-A94A7ECE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35D05-0837-45B3-A4B6-C52ACAAE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52900"/>
            <a:ext cx="452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B56"/>
                </a:solidFill>
                <a:latin typeface="Arial"/>
                <a:ea typeface="Arial"/>
                <a:cs typeface="Arial"/>
              </a:rPr>
              <a:t>Temporizadores determinam spawns, ataques e imunidade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60F06-3CE4-4ED0-9F2D-8C0142D4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85875"/>
            <a:ext cx="4476750" cy="4095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14288">
            <a:solidFill>
              <a:srgbClr val="64CCC5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857D4-0BB9-4408-B698-A11311E2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145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PRÓXIMOS PASSOS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2D483-0B1B-4BC9-B349-014D45B2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CC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4CCC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B9EE3-DAC4-4976-82D7-B0E84411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Sistema de pontuação e graze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5F096-A876-4FE0-8642-3BFAEAF0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098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DD3140-64BD-4F73-9B2C-176E4DF4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57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CC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4CCC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CB29B-005B-4C13-A854-4C924373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575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88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Dados de padrões fora do código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94A04-76B2-43E5-AF38-97684873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766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D5A38B-0184-4241-8453-A9E0E694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242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CC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4CCC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CC658-AB67-4AB4-A781-854885E9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2425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88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Replay determinístico para testes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B7E70B-9742-4EC6-A07A-10A955CC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4E6FA9-6A43-4FDF-AB47-5D2C95A2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910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CC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4CCC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B7AD53-9012-4EEA-88F4-758601F5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910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6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Telemetria de eventos e desempenho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3465D3-10AE-4E39-BDC6-0F670B36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101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4F4C3F-4D07-4C0A-B38A-73AAA259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Arquitetura preparada para novos inimigos, fases e padrões sem alterar o núcleo do jogo</a:t>
            </a:r>
          </a:p>
        </p:txBody>
      </p:sp>
    </p:spTree>
    <p:extLst>
      <p:ext uri="{BB962C8B-B14F-4D97-AF65-F5344CB8AC3E}">
        <p14:creationId xmlns:p14="http://schemas.microsoft.com/office/powerpoint/2010/main" val="1703500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2026-09-29T19:33:49.7240000Z</dcterms:created>
  <dcterms:modified xsi:type="dcterms:W3CDTF">2026-09-29T19:33:49.7250000Z</dcterms:modified>
</coreProperties>
</file>